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E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ADDDC"/>
                </a:solidFill>
                <a:latin typeface="Calibri"/>
              </a:rPr>
              <a:t>RÉPUBLIQUE DU CAMEROUN  ·  ESTL LA SALLE — GÉNIE INDUSTRIEL &amp;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875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2C7A7B"/>
                </a:solidFill>
                <a:latin typeface="Calibri"/>
              </a:rPr>
              <a:t>Mémoire de Master 2 — Maintenance Industrielle et Productique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Maintenance prédictive de la corrosion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0" i="1">
                <a:solidFill>
                  <a:srgbClr val="CADDDC"/>
                </a:solidFill>
                <a:latin typeface="Calibri"/>
              </a:rPr>
              <a:t>Une transition Industrie 3.0 → 4.0 par sonde connectée et apprentissage automatique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4160520"/>
            <a:ext cx="4297680" cy="32004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Présenté et soutenu par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BATOUMBI IKOND Ricky Parfait</a:t>
            </a:r>
            <a:r>
              <a:rPr sz="1200" b="0" i="0">
                <a:solidFill>
                  <a:srgbClr val="6B7A82"/>
                </a:solidFill>
                <a:latin typeface="Calibri"/>
              </a:rPr>
              <a:t>   (Mat. 0111 II17)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Sous la supervision de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Dr. TCHAWE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91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ADDDC"/>
                </a:solidFill>
                <a:latin typeface="Calibri"/>
              </a:rPr>
              <a:t>Année académique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DÉROULÉ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Plan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179222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Contexte &amp; problématique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Corrosion, verrou applicatif, transition I3.0 → 4.0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9464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53288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Objectifs &amp; démarche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Quatre objectifs, chaîne ISO 13381-1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327355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Méthodologie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Sonde ER · acquisition IoT · modèle ML · GMAO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050791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4014215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Résultats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Validation, performance, régimes, intégration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47548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Discussion &amp; apports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Limites assumées, contributions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532120"/>
            <a:ext cx="548640" cy="548640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5495544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02B31"/>
                </a:solidFill>
                <a:latin typeface="Georgia"/>
              </a:rPr>
              <a:t>Conclusion &amp; perspectives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Bilan et jumeau numérique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La corrosion : un enjeu majeur, un verrou applicatif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11680"/>
            <a:ext cx="341985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3419856" cy="10972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16252E"/>
                </a:solidFill>
                <a:latin typeface="Georgia"/>
              </a:rPr>
              <a:t>≈ 2 500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C9601A"/>
                </a:solidFill>
                <a:latin typeface="Calibri"/>
              </a:rPr>
              <a:t>milliards $ /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A82"/>
                </a:solidFill>
                <a:latin typeface="Calibri"/>
              </a:rPr>
              <a:t>coût mondial de la corrosion (NACE IMPACT, 2016)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011680"/>
            <a:ext cx="341985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2272" y="2011680"/>
            <a:ext cx="3419856" cy="10972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24942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16252E"/>
                </a:solidFill>
                <a:latin typeface="Georgia"/>
              </a:rPr>
              <a:t>1 070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C9601A"/>
                </a:solidFill>
                <a:latin typeface="Calibri"/>
              </a:rPr>
              <a:t>km de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200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A82"/>
                </a:solidFill>
                <a:latin typeface="Calibri"/>
              </a:rPr>
              <a:t>Tchad–Cameroun, cas d'étude (COTCO)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011680"/>
            <a:ext cx="341985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55864" y="2011680"/>
            <a:ext cx="3419856" cy="10972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24942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00" b="1" i="0">
                <a:solidFill>
                  <a:srgbClr val="16252E"/>
                </a:solidFill>
                <a:latin typeface="Georgia"/>
              </a:rPr>
              <a:t>30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C9601A"/>
                </a:solidFill>
                <a:latin typeface="Calibri"/>
              </a:rPr>
              <a:t>diamètre nominal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20040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A82"/>
                </a:solidFill>
                <a:latin typeface="Calibri"/>
              </a:rPr>
              <a:t>acier API 5L, corrosion multi-mécanismes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202B31"/>
                </a:solidFill>
                <a:latin typeface="Georgia"/>
              </a:rPr>
              <a:t>Le verrou n'est plus l'instrumentation.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202B31"/>
                </a:solidFill>
                <a:latin typeface="Calibri"/>
              </a:rPr>
              <a:t>Les opérateurs disposent déjà de sondes ER en place (cas COTCO) et tracent leurs interventions (SAP). Ce qui manque, c'est l'</a:t>
            </a:r>
            <a:r>
              <a:rPr sz="1400" b="1" i="0">
                <a:solidFill>
                  <a:srgbClr val="C9601A"/>
                </a:solidFill>
                <a:latin typeface="Calibri"/>
              </a:rPr>
              <a:t>intelligence applicative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 : corréler résistance / température / temps, prédire le taux de corrosion et la durée de vie, et relier ces prédictions à l'action.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202B31"/>
                </a:solidFill>
                <a:latin typeface="Calibri"/>
              </a:rPr>
              <a:t>→ C'est précisément la transition </a:t>
            </a:r>
            <a:r>
              <a:rPr sz="1450" b="1" i="0">
                <a:solidFill>
                  <a:srgbClr val="2C7A7B"/>
                </a:solidFill>
                <a:latin typeface="Calibri"/>
              </a:rPr>
              <a:t>Industrie 3.0 → Industrie 4.0</a:t>
            </a:r>
            <a:r>
              <a:rPr sz="1450" b="1" i="0">
                <a:solidFill>
                  <a:srgbClr val="202B31"/>
                </a:solidFill>
                <a:latin typeface="Calibri"/>
              </a:rPr>
              <a:t> que ce travail propose d'opérer, à coût maîtrisé.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Un paradoxe : des données riches, sous-exploitées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201168" cy="201168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Pas de corrélation —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les courbes ER ne sont pas reliées algorithmiquement aux variables de procédé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98064"/>
            <a:ext cx="201168" cy="201168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5234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Pas de RUL —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aucune estimation du temps avant défaillance (durée de vie résiduelle)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401568"/>
            <a:ext cx="201168" cy="201168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3558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Boucle non prédictive —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les historiques (SAP) existent, mais la prédiction n'y est pas reliée pour générer l'action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14800"/>
            <a:ext cx="10469880" cy="1874519"/>
          </a:xfrm>
          <a:prstGeom prst="roundRect">
            <a:avLst/>
          </a:prstGeom>
          <a:solidFill>
            <a:srgbClr val="16252E"/>
          </a:solidFill>
          <a:ln w="12700">
            <a:solidFill>
              <a:srgbClr val="16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114800"/>
            <a:ext cx="128016" cy="1874519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31596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9601A"/>
                </a:solidFill>
                <a:latin typeface="Calibri"/>
              </a:rPr>
              <a:t>QUESTION CENTRALE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81728"/>
            <a:ext cx="99212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Dans quelle mesure un système intégré — sonde ER instrumentée (ESP32/HX711/DS18B20), modèle XGBoost à double sortie CR + RUL en protocole </a:t>
            </a:r>
            <a:r>
              <a:rPr sz="1450" b="0" i="1">
                <a:solidFill>
                  <a:srgbClr val="CADDDC"/>
                </a:solidFill>
                <a:latin typeface="Calibri"/>
              </a:rPr>
              <a:t>run-to-failure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, et boucle décision → action — permet-il d'opérer la transition I3.0 → 4.0, transposable à COTCO comme aux PME industrielles africaines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OBJECTIFS DE L'ÉTUDE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Quatre objectifs, une chaîne de maintenance prédictive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84831"/>
            <a:ext cx="1993392" cy="457200"/>
          </a:xfrm>
          <a:prstGeom prst="round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993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Détection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784" y="2093976"/>
            <a:ext cx="274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9601A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0944" y="2084831"/>
            <a:ext cx="1993392" cy="457200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148840"/>
            <a:ext cx="1993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093976"/>
            <a:ext cx="274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9601A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2084831"/>
            <a:ext cx="1993392" cy="457200"/>
          </a:xfrm>
          <a:prstGeom prst="round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148840"/>
            <a:ext cx="1993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093976"/>
            <a:ext cx="274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9601A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2084831"/>
            <a:ext cx="1993392" cy="457200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148840"/>
            <a:ext cx="1993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Décision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2093976"/>
            <a:ext cx="274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9601A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7736" y="2084831"/>
            <a:ext cx="1993392" cy="457200"/>
          </a:xfrm>
          <a:prstGeom prst="round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2148840"/>
            <a:ext cx="1993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6151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Cadre normatif : ISO 13381-1 (pronostic &amp; durée de vie résiduelle)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035808"/>
            <a:ext cx="10469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035808"/>
            <a:ext cx="1097280" cy="713232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035808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OS1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136391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B31"/>
                </a:solidFill>
                <a:latin typeface="Georgia"/>
              </a:rPr>
              <a:t>Concevoir &amp; valider la sonde ER instrumentée IoT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A82"/>
                </a:solidFill>
                <a:latin typeface="Calibri"/>
              </a:rPr>
              <a:t>Montage 2 fils + HX711 24 bits + ESP32, acquisition continue 30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813048"/>
            <a:ext cx="10469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813048"/>
            <a:ext cx="1097280" cy="713232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13048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OS2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13632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B31"/>
                </a:solidFill>
                <a:latin typeface="Georgia"/>
              </a:rPr>
              <a:t>Entraîner un modèle XGBoost CR + RUL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A82"/>
                </a:solidFill>
                <a:latin typeface="Calibri"/>
              </a:rPr>
              <a:t>Validation leave-one-run-out, interprétabilité SHAP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590288"/>
            <a:ext cx="10469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8680" y="4590288"/>
            <a:ext cx="1097280" cy="713232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90288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OS3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690872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B31"/>
                </a:solidFill>
                <a:latin typeface="Georgia"/>
              </a:rPr>
              <a:t>Diagnostiquer les régimes &amp; facteurs de variabilité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A82"/>
                </a:solidFill>
                <a:latin typeface="Calibri"/>
              </a:rPr>
              <a:t>Température dominante, répétabilité des conditions, alertes graduées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367527"/>
            <a:ext cx="10469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367527"/>
            <a:ext cx="1097280" cy="713232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67527"/>
            <a:ext cx="1097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OS4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468112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B31"/>
                </a:solidFill>
                <a:latin typeface="Georgia"/>
              </a:rPr>
              <a:t>Structurer la boucle décision →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B7A82"/>
                </a:solidFill>
                <a:latin typeface="Calibri"/>
              </a:rPr>
              <a:t>Module GMAO maison (ordres de travail, KPIs), transposable open-source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Une chaîne complète, du capteur à l'ordre de travail</a:t>
            </a:r>
          </a:p>
        </p:txBody>
      </p:sp>
      <p:pic>
        <p:nvPicPr>
          <p:cNvPr id="6" name="Picture 5" descr="fig_ii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393" y="1828800"/>
            <a:ext cx="3740053" cy="41605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68680" y="2148840"/>
            <a:ext cx="438912" cy="438912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09397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9601A"/>
                </a:solidFill>
                <a:latin typeface="Georgia"/>
              </a:rPr>
              <a:t>Capteur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B31"/>
                </a:solidFill>
                <a:latin typeface="Calibri"/>
              </a:rPr>
              <a:t>Sonde ER (fil de fer) + HX711 + DS18B20, piloté par ESP32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16936"/>
            <a:ext cx="438912" cy="438912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86207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9601A"/>
                </a:solidFill>
                <a:latin typeface="Georgia"/>
              </a:rPr>
              <a:t>Données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B31"/>
                </a:solidFill>
                <a:latin typeface="Calibri"/>
              </a:rPr>
              <a:t>Envoi HTTPS → Supabase (PostgreSQL) toutes les 30 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85032"/>
            <a:ext cx="438912" cy="438912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63016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9601A"/>
                </a:solidFill>
                <a:latin typeface="Georgia"/>
              </a:rPr>
              <a:t>Modèle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B31"/>
                </a:solidFill>
                <a:latin typeface="Calibri"/>
              </a:rPr>
              <a:t>Pipeline Python : nettoyage, compensation thermique, XGBoost CR + RUL, SHAP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453128"/>
            <a:ext cx="438912" cy="438912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398264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9601A"/>
                </a:solidFill>
                <a:latin typeface="Georgia"/>
              </a:rPr>
              <a:t>Décision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B31"/>
                </a:solidFill>
                <a:latin typeface="Calibri"/>
              </a:rPr>
              <a:t>Diagnostic des régimes + alertes graduées (vert / orange / rouge)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21224"/>
            <a:ext cx="438912" cy="438912"/>
          </a:xfrm>
          <a:prstGeom prst="ellipse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516636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C9601A"/>
                </a:solidFill>
                <a:latin typeface="Georgia"/>
              </a:rPr>
              <a:t>Action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B31"/>
                </a:solidFill>
                <a:latin typeface="Calibri"/>
              </a:rPr>
              <a:t>Module GMAO maison : ordres de travail automatiques +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OS1 — DÉTECTION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Sonde à résistance électrique : un montage maison robuste</a:t>
            </a:r>
          </a:p>
        </p:txBody>
      </p:sp>
      <p:pic>
        <p:nvPicPr>
          <p:cNvPr id="6" name="Picture 5" descr="fig_montage_r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48840"/>
            <a:ext cx="4983480" cy="2782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48840"/>
            <a:ext cx="5440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2B31"/>
                </a:solidFill>
                <a:latin typeface="Georgia"/>
              </a:rPr>
              <a:t>Principe — 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la résistance d'un fil croît quand la corrosion réduit sa section : </a:t>
            </a:r>
            <a:r>
              <a:rPr sz="1300" b="1" i="1">
                <a:solidFill>
                  <a:srgbClr val="C9601A"/>
                </a:solidFill>
                <a:latin typeface="Calibri"/>
              </a:rPr>
              <a:t>R = ρL/πr².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2B31"/>
                </a:solidFill>
                <a:latin typeface="Georgia"/>
              </a:rPr>
              <a:t>Montage retenu — 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2 fils à injection de courant (≈ 1,8 mA), lecture différentielle HX711 24 bits.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C9601A"/>
                </a:solidFill>
                <a:latin typeface="Georgia"/>
              </a:rPr>
              <a:t>Pont de Wheatstone abandonné — 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mode commun du HX711, signal utile noyé dans le bruit.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2B31"/>
                </a:solidFill>
                <a:latin typeface="Georgia"/>
              </a:rPr>
              <a:t>Valeurs justifiées — 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970 Ω : courant faible (évite échauffement / polarisation) mais V lisible (plage ±40 mV).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02B31"/>
                </a:solidFill>
                <a:latin typeface="Georgia"/>
              </a:rPr>
              <a:t>Température — 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DS18B20 protégé (tube + huile) pour un couplage thermique fiable ; cadence 30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OS2 — PRONOSTIC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XGBoost : le bon modèle pour « beaucoup de points, peu de runs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02B31"/>
                </a:solidFill>
                <a:latin typeface="Georgia"/>
              </a:rPr>
              <a:t>Pourquoi pas un réseau de neurones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5532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Chaque essai ≈ 1 000–2 500 lectures, mais </a:t>
            </a:r>
            <a:r>
              <a:rPr sz="1350" b="1" i="0">
                <a:solidFill>
                  <a:srgbClr val="C9601A"/>
                </a:solidFill>
                <a:latin typeface="Calibri"/>
              </a:rPr>
              <a:t>peu d'essais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: beaucoup de points, peu de runs.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→ MLP / LSTM / Transformer </a:t>
            </a:r>
            <a:r>
              <a:rPr sz="1350" b="1" i="0">
                <a:solidFill>
                  <a:srgbClr val="C9601A"/>
                </a:solidFill>
                <a:latin typeface="Calibri"/>
              </a:rPr>
              <a:t>sur-apprennent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sur ce volume.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→ XGBoost </a:t>
            </a:r>
            <a:r>
              <a:rPr sz="1350" b="1" i="0">
                <a:solidFill>
                  <a:srgbClr val="2C7A7B"/>
                </a:solidFill>
                <a:latin typeface="Calibri"/>
              </a:rPr>
              <a:t>(arbres boostés, tabulaire)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est optimal à faible volume, régularisé,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interprétable par SHAP.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72000"/>
            <a:ext cx="5486400" cy="1417320"/>
          </a:xfrm>
          <a:prstGeom prst="roundRect">
            <a:avLst/>
          </a:prstGeom>
          <a:solidFill>
            <a:srgbClr val="16252E"/>
          </a:solidFill>
          <a:ln w="12700">
            <a:solidFill>
              <a:srgbClr val="16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VALIDATION  leave-one-run-out (LORO)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13892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Un essai entier est retiré puis prédit par les autres : on mesure la </a:t>
            </a:r>
            <a:r>
              <a:rPr sz="1250" b="1" i="0">
                <a:solidFill>
                  <a:srgbClr val="CADDDC"/>
                </a:solidFill>
                <a:latin typeface="Calibri"/>
              </a:rPr>
              <a:t>généralisation à un essai jamais vu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pic>
        <p:nvPicPr>
          <p:cNvPr id="11" name="Picture 10" descr="fig_iii3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80705"/>
            <a:ext cx="4892040" cy="24109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29400" y="5779008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A82"/>
                </a:solidFill>
                <a:latin typeface="Calibri"/>
              </a:rPr>
              <a:t>Importance des variables (SHAP) : dégradation cumulée + température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RÉSULTATS — OS2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Le modèle généralise — là où les conditions sont couvertes</a:t>
            </a:r>
          </a:p>
        </p:txBody>
      </p:sp>
      <p:pic>
        <p:nvPicPr>
          <p:cNvPr id="6" name="Picture 5" descr="fig_iii3_r2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792002"/>
            <a:ext cx="5166360" cy="25541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14884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6252E"/>
                </a:solidFill>
                <a:latin typeface="Georgia"/>
              </a:rPr>
              <a:t>R² = +0,29</a:t>
            </a:r>
            <a:r>
              <a:rPr sz="1300" b="0" i="0">
                <a:solidFill>
                  <a:srgbClr val="6B7A82"/>
                </a:solidFill>
                <a:latin typeface="Calibri"/>
              </a:rPr>
              <a:t>  (moy. LORO)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Run #12 : +0,50   ·   Run #16 : +0,07   —   bat les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5349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02B31"/>
                </a:solidFill>
                <a:latin typeface="Calibri"/>
              </a:rPr>
              <a:t>Le résultat marquant n'est pas la valeur, mais sa </a:t>
            </a:r>
            <a:r>
              <a:rPr sz="1400" b="1" i="0">
                <a:solidFill>
                  <a:srgbClr val="C9601A"/>
                </a:solidFill>
                <a:latin typeface="Georgia"/>
              </a:rPr>
              <a:t>structure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 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positif là où les conditions du run testé sont </a:t>
            </a:r>
            <a:r>
              <a:rPr sz="1350" b="1" i="0">
                <a:solidFill>
                  <a:srgbClr val="2C7A7B"/>
                </a:solidFill>
                <a:latin typeface="Calibri"/>
              </a:rPr>
              <a:t>couvertes et répétées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, négatif sinon.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Ce n'est pas le volume brut qui compte, mais la </a:t>
            </a:r>
            <a:r>
              <a:rPr sz="1350" b="1" i="0">
                <a:solidFill>
                  <a:srgbClr val="202B31"/>
                </a:solidFill>
                <a:latin typeface="Calibri"/>
              </a:rPr>
              <a:t>répétabilité des conditions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RÉSULTATS — OS3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Température dominante &amp; deux contre-exemples instructifs</a:t>
            </a:r>
          </a:p>
        </p:txBody>
      </p:sp>
      <p:pic>
        <p:nvPicPr>
          <p:cNvPr id="6" name="Picture 5" descr="fig_iii4_contrexe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706863"/>
            <a:ext cx="5166360" cy="2724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48840"/>
            <a:ext cx="5349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La température est la variable dominante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(Arrhenius : la vitesse de corrosion croît exponentiellement avec 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02B31"/>
                </a:solidFill>
                <a:latin typeface="Calibri"/>
              </a:rPr>
              <a:t>Deux essais imprédictibles = deux facteurs isolés :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785615"/>
            <a:ext cx="182880" cy="18288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749039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02B31"/>
                </a:solidFill>
                <a:latin typeface="Calibri"/>
              </a:rPr>
              <a:t>Run #15 — </a:t>
            </a:r>
            <a:r>
              <a:rPr sz="1250" b="0" i="0">
                <a:solidFill>
                  <a:srgbClr val="202B31"/>
                </a:solidFill>
                <a:latin typeface="Calibri"/>
              </a:rPr>
              <a:t>régulation thermique dérivante (31 → 28 °C)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34255"/>
            <a:ext cx="182880" cy="18288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297679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02B31"/>
                </a:solidFill>
                <a:latin typeface="Calibri"/>
              </a:rPr>
              <a:t>Run #17 — </a:t>
            </a:r>
            <a:r>
              <a:rPr sz="1250" b="0" i="0">
                <a:solidFill>
                  <a:srgbClr val="202B31"/>
                </a:solidFill>
                <a:latin typeface="Calibri"/>
              </a:rPr>
              <a:t>concentration d'acide (HCl évaporé avant immersion)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5349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02B31"/>
                </a:solidFill>
                <a:latin typeface="Calibri"/>
              </a:rPr>
              <a:t>→ La fiabilité exige le contrôle </a:t>
            </a:r>
            <a:r>
              <a:rPr sz="1350" b="1" i="0">
                <a:solidFill>
                  <a:srgbClr val="C9601A"/>
                </a:solidFill>
                <a:latin typeface="Calibri"/>
              </a:rPr>
              <a:t>simultané</a:t>
            </a:r>
            <a:r>
              <a:rPr sz="1350" b="1" i="0">
                <a:solidFill>
                  <a:srgbClr val="202B31"/>
                </a:solidFill>
                <a:latin typeface="Calibri"/>
              </a:rPr>
              <a:t> de tous les facteurs, pas seulement la température.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COMPRÉHENSION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Emballement &amp; rupture : une divergence géométrique</a:t>
            </a:r>
          </a:p>
        </p:txBody>
      </p:sp>
      <p:pic>
        <p:nvPicPr>
          <p:cNvPr id="6" name="Picture 5" descr="fig_iii4_embal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95887"/>
            <a:ext cx="5212080" cy="3146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148840"/>
            <a:ext cx="53492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202B31"/>
                </a:solidFill>
                <a:latin typeface="Calibri"/>
              </a:rPr>
              <a:t>La section varie en r², donc </a:t>
            </a:r>
            <a:r>
              <a:rPr sz="1500" b="1" i="1">
                <a:solidFill>
                  <a:srgbClr val="C9601A"/>
                </a:solidFill>
                <a:latin typeface="Georgia"/>
              </a:rPr>
              <a:t>R s'emballe en 1/r³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La </a:t>
            </a:r>
            <a:r>
              <a:rPr sz="1350" b="1" i="0">
                <a:solidFill>
                  <a:srgbClr val="202B31"/>
                </a:solidFill>
                <a:latin typeface="Calibri"/>
              </a:rPr>
              <a:t>rupture mécanique coïncide avec le début de l'emballement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: « section → 0 » = explosion de R ET perte de tenue.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Après rupture, </a:t>
            </a:r>
            <a:r>
              <a:rPr sz="1350" b="1" i="0">
                <a:solidFill>
                  <a:srgbClr val="2C7A7B"/>
                </a:solidFill>
                <a:latin typeface="Calibri"/>
              </a:rPr>
              <a:t>la conduction résiduelle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(électrolyte HCl + dernier filament) maintient une résistance croissante jusqu'au circuit ouvert.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202B31"/>
                </a:solidFill>
                <a:latin typeface="Calibri"/>
              </a:rPr>
              <a:t>Cette portion terminale est </a:t>
            </a:r>
            <a:r>
              <a:rPr sz="1350" b="1" i="0">
                <a:solidFill>
                  <a:srgbClr val="C9601A"/>
                </a:solidFill>
                <a:latin typeface="Calibri"/>
              </a:rPr>
              <a:t>électrolytique, non métallique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 : tronquée et exclue de l'apprentissage.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C7A7B"/>
                </a:solidFill>
                <a:latin typeface="Calibri"/>
              </a:rPr>
              <a:t>RÉSULTATS — OS4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Boucle décision → action : un module GMAO maison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02B31"/>
                </a:solidFill>
                <a:latin typeface="Calibri"/>
              </a:rPr>
              <a:t>Aucun CMMS open-source (GLPI, OpenMaint, Snipe-IT…) n'offre d'API exploitable en version gratuite.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9601A"/>
                </a:solidFill>
                <a:latin typeface="Calibri"/>
              </a:rPr>
              <a:t>→ </a:t>
            </a:r>
            <a:r>
              <a:rPr sz="1450" b="1" i="0">
                <a:solidFill>
                  <a:srgbClr val="202B31"/>
                </a:solidFill>
                <a:latin typeface="Georgia"/>
              </a:rPr>
              <a:t>Module GMAO maison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 intégré à Streamlit + Supabase : à chaque alerte, un </a:t>
            </a:r>
            <a:r>
              <a:rPr sz="1400" b="1" i="0">
                <a:solidFill>
                  <a:srgbClr val="C9601A"/>
                </a:solidFill>
                <a:latin typeface="Calibri"/>
              </a:rPr>
              <a:t>ordre de travail enrichi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 (CR, RUL, régime, section) est généré et tracé — sans appel externe.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40480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840480"/>
            <a:ext cx="3419856" cy="109728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6252E"/>
                </a:solidFill>
                <a:latin typeface="Georgia"/>
              </a:rPr>
              <a:t>MTBF · MTTR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8920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indicateurs de maintenance calculés sur l'historique des 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840480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3840480"/>
            <a:ext cx="3419856" cy="109728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6252E"/>
                </a:solidFill>
                <a:latin typeface="Georgia"/>
              </a:rPr>
              <a:t>Gratuit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8920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coût de licence nul — accessible aux PME africaines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3840480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3840480"/>
            <a:ext cx="3419856" cy="109728"/>
          </a:xfrm>
          <a:prstGeom prst="round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411480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6252E"/>
                </a:solidFill>
                <a:latin typeface="Georgia"/>
              </a:rPr>
              <a:t>Transposable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8920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même mapping reportable sur un CMMS open-source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Jumeau numérique : prédire puis confirmer</a:t>
            </a:r>
          </a:p>
        </p:txBody>
      </p:sp>
      <p:pic>
        <p:nvPicPr>
          <p:cNvPr id="6" name="Picture 5" descr="fig_simulateur_run21_non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43150"/>
            <a:ext cx="525780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205740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2B31"/>
                </a:solidFill>
                <a:latin typeface="Calibri"/>
              </a:rPr>
              <a:t>Un jumeau numérique calibré sur les essais réels génère une </a:t>
            </a:r>
            <a:r>
              <a:rPr sz="1400" b="1" i="0">
                <a:solidFill>
                  <a:srgbClr val="C9601A"/>
                </a:solidFill>
                <a:latin typeface="Georgia"/>
              </a:rPr>
              <a:t>bande prédictive de durée de vie</a:t>
            </a:r>
            <a:r>
              <a:rPr sz="1400" b="0" i="0">
                <a:solidFill>
                  <a:srgbClr val="202B31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02B31"/>
                </a:solidFill>
                <a:latin typeface="Calibri"/>
              </a:rPr>
              <a:t>Test « prédire-puis-confirmer » sur Run #21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566160"/>
            <a:ext cx="5303520" cy="1325880"/>
          </a:xfrm>
          <a:prstGeom prst="roundRect">
            <a:avLst/>
          </a:prstGeom>
          <a:solidFill>
            <a:srgbClr val="16252E"/>
          </a:solidFill>
          <a:ln w="12700">
            <a:solidFill>
              <a:srgbClr val="162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49039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CADDDC"/>
                </a:solidFill>
                <a:latin typeface="Calibri"/>
              </a:rPr>
              <a:t>Prédit avant l'essai : </a:t>
            </a:r>
            <a:r>
              <a:rPr sz="1600" b="1" i="0">
                <a:solidFill>
                  <a:srgbClr val="FFFFFF"/>
                </a:solidFill>
                <a:latin typeface="Georgia"/>
              </a:rPr>
              <a:t>13 – 20,5 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CADDDC"/>
                </a:solidFill>
                <a:latin typeface="Calibri"/>
              </a:rPr>
              <a:t>Rupture observée : </a:t>
            </a:r>
            <a:r>
              <a:rPr sz="1600" b="1" i="0">
                <a:solidFill>
                  <a:srgbClr val="C9601A"/>
                </a:solidFill>
                <a:latin typeface="Georgia"/>
              </a:rPr>
              <a:t>13,1 h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 ✓ dans la bande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Enseignement : on ne prédit bien qu'une morphologie déjà observée </a:t>
            </a:r>
            <a:r>
              <a:rPr sz="1300" b="1" i="0">
                <a:solidFill>
                  <a:srgbClr val="C9601A"/>
                </a:solidFill>
                <a:latin typeface="Calibri"/>
              </a:rPr>
              <a:t>≥ 2 fois</a:t>
            </a:r>
            <a:r>
              <a:rPr sz="1300" b="0" i="0">
                <a:solidFill>
                  <a:srgbClr val="202B31"/>
                </a:solidFill>
                <a:latin typeface="Calibri"/>
              </a:rPr>
              <a:t> — ce qui quantifie le besoin de répétition.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Limites assumées d'une preuve de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10469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128016" cy="84124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03120"/>
            <a:ext cx="9875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Matériau  — 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fil de fer ≠ acier API 5L : les valeurs absolues de CR ne sont pas directement transposables.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35808"/>
            <a:ext cx="10469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035808"/>
            <a:ext cx="128016" cy="84124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9875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Effet acide-shunt  — 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en HCl concentré, l'électrolyte shunte la mesure — d'où l'emploi d'un fil fin.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68496"/>
            <a:ext cx="10469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68496"/>
            <a:ext cx="128016" cy="84124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968496"/>
            <a:ext cx="9875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Jeu de données  — 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peu d'essais : métriques bruitées, en cours de consolidation.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01183"/>
            <a:ext cx="10469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901183"/>
            <a:ext cx="128016" cy="841248"/>
          </a:xfrm>
          <a:prstGeom prst="round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901183"/>
            <a:ext cx="98755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2B31"/>
                </a:solidFill>
                <a:latin typeface="Georgia"/>
              </a:rPr>
              <a:t>Couverture thermique  —  </a:t>
            </a:r>
            <a:r>
              <a:rPr sz="1350" b="0" i="0">
                <a:solidFill>
                  <a:srgbClr val="202B31"/>
                </a:solidFill>
                <a:latin typeface="Calibri"/>
              </a:rPr>
              <a:t>une seule plage (~30 °C) répétée ; ~32 °C encore représentée par un seul essai.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4360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2C7A7B"/>
                </a:solidFill>
                <a:latin typeface="Calibri"/>
              </a:rPr>
              <a:t>Ces limites ne sont pas intrinsèques à la méthode : elles définissent les conditions du passage à l'échelle.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601A"/>
                </a:solidFill>
                <a:latin typeface="Calibri"/>
              </a:rPr>
              <a:t>APPORTS DU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863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202B31"/>
                </a:solidFill>
                <a:latin typeface="Georgia"/>
              </a:rPr>
              <a:t>Ce que cette étude apporte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221992"/>
            <a:ext cx="502920" cy="5029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02B31"/>
                </a:solidFill>
                <a:latin typeface="Georgia"/>
              </a:rPr>
              <a:t>Apport méthodologique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La fiabilité du ML se lit dans la STRUCTURE du R² (positif si conditions couvertes et répétées) — rarement explicité dans la littérature.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09544"/>
            <a:ext cx="502920" cy="5029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136392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02B31"/>
                </a:solidFill>
                <a:latin typeface="Georgia"/>
              </a:rPr>
              <a:t>Chaîne complète low-cost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De la mesure à l'ordre de travail, en matériel accessible localement (~50 000 FCFA) et logiciels open-source.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97096"/>
            <a:ext cx="502920" cy="5029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123944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02B31"/>
                </a:solidFill>
                <a:latin typeface="Georgia"/>
              </a:rPr>
              <a:t>Double transposabilité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Saut I3.0 → 4.0 essentiellement logiciel chez COTCO ; déploiement autonome pour les PME africaines.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11496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02B31"/>
                </a:solidFill>
                <a:latin typeface="Georgia"/>
              </a:rPr>
              <a:t>Rigueur &amp; traçabilité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02B31"/>
                </a:solidFill>
                <a:latin typeface="Calibri"/>
              </a:rPr>
              <a:t>Chaque donnée, seuil et décision adossé à une source (norme, référence, loi physique).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9601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Georgia"/>
              </a:rPr>
              <a:t>Une brique fondatrice, validée et reproductible</a:t>
            </a:r>
          </a:p>
        </p:txBody>
      </p:sp>
      <p:sp>
        <p:nvSpPr>
          <p:cNvPr id="6" name="Oval 5"/>
          <p:cNvSpPr/>
          <p:nvPr/>
        </p:nvSpPr>
        <p:spPr>
          <a:xfrm>
            <a:off x="886968" y="2103120"/>
            <a:ext cx="548640" cy="54864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2140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601A"/>
                </a:solidFill>
                <a:latin typeface="Georgia"/>
              </a:rPr>
              <a:t>OS1 — </a:t>
            </a:r>
            <a:r>
              <a:rPr sz="1400" b="0" i="0">
                <a:solidFill>
                  <a:srgbClr val="CADDDC"/>
                </a:solidFill>
                <a:latin typeface="Calibri"/>
              </a:rPr>
              <a:t>chaîne d'acquisition ER fonctionnelle, suivi d'essais run-to-failure complets.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2816352"/>
            <a:ext cx="548640" cy="54864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601A"/>
                </a:solidFill>
                <a:latin typeface="Georgia"/>
              </a:rPr>
              <a:t>OS2 — </a:t>
            </a:r>
            <a:r>
              <a:rPr sz="1400" b="0" i="0">
                <a:solidFill>
                  <a:srgbClr val="CADDDC"/>
                </a:solidFill>
                <a:latin typeface="Calibri"/>
              </a:rPr>
              <a:t>XGBoost prédit le CR et surpasse les baselines — sous condition de couverture.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529584"/>
            <a:ext cx="548640" cy="54864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5478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601A"/>
                </a:solidFill>
                <a:latin typeface="Georgia"/>
              </a:rPr>
              <a:t>OS3 — </a:t>
            </a:r>
            <a:r>
              <a:rPr sz="1400" b="0" i="0">
                <a:solidFill>
                  <a:srgbClr val="CADDDC"/>
                </a:solidFill>
                <a:latin typeface="Calibri"/>
              </a:rPr>
              <a:t>température dominante ; la répétabilité des conditions fait la fiabilité.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4242816"/>
            <a:ext cx="548640" cy="548640"/>
          </a:xfrm>
          <a:prstGeom prst="ellipse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61104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9601A"/>
                </a:solidFill>
                <a:latin typeface="Georgia"/>
              </a:rPr>
              <a:t>OS4 — </a:t>
            </a:r>
            <a:r>
              <a:rPr sz="1400" b="0" i="0">
                <a:solidFill>
                  <a:srgbClr val="CADDDC"/>
                </a:solidFill>
                <a:latin typeface="Calibri"/>
              </a:rPr>
              <a:t>boucle décision → action démontrée par un module GMAO maison, à coût nul.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Objectifs partiellement atteints et en voie de consolidation — </a:t>
            </a:r>
            <a:r>
              <a:rPr sz="1450" b="0" i="1">
                <a:solidFill>
                  <a:srgbClr val="CADDDC"/>
                </a:solidFill>
                <a:latin typeface="Calibri"/>
              </a:rPr>
              <a:t>un prototype doublement transposable, de la mesure à la décision.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373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ADDDC"/>
                </a:solidFill>
                <a:latin typeface="Calibri"/>
              </a:rPr>
              <a:t>Maintenance prédictive de la corrosion  ·  ESTL La Salle  ·  2025–2026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601A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6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96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1">
                <a:solidFill>
                  <a:srgbClr val="C9601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ADDDC"/>
                </a:solidFill>
                <a:latin typeface="Calibri"/>
              </a:rPr>
              <a:t>BATOUMBI IKOND Ricky Parfait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A82"/>
                </a:solidFill>
                <a:latin typeface="Calibri"/>
              </a:rPr>
              <a:t>Master 2 — Maintenance Industrielle et Productique  ·  ESTL La Salle  · 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