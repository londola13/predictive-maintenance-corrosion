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1E3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03504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ADDDC"/>
                </a:solidFill>
                <a:latin typeface="Calibri"/>
              </a:rPr>
              <a:t>RÉPUBLIQUE DU CAMEROUN  ·  ESTL LA SALLE, GÉNIE INDUSTRIEL &amp; MAINTENANCE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8755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2C7A7B"/>
                </a:solidFill>
                <a:latin typeface="Calibri"/>
              </a:rPr>
              <a:t>Mémoire de Master 2, Maintenance Industrielle et Productique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60020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Maintenance prédictive de la corrosion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0" i="1">
                <a:solidFill>
                  <a:srgbClr val="CADDDC"/>
                </a:solidFill>
                <a:latin typeface="Calibri"/>
              </a:rPr>
              <a:t>Une transition Industrie 3.0 → 4.0 par sonde connectée et apprentissage automatique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" y="4160520"/>
            <a:ext cx="4297680" cy="32004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Présenté et soutenu par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BATOUMBI IKOND Ricky Parfait</a:t>
            </a:r>
            <a:r>
              <a:rPr sz="1200" b="0" i="0">
                <a:solidFill>
                  <a:srgbClr val="6B7A82"/>
                </a:solidFill>
                <a:latin typeface="Calibri"/>
              </a:rPr>
              <a:t>   (Mat. 0111 II17)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Sous l'encadrement de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M. FEZEU</a:t>
            </a:r>
            <a:r>
              <a:rPr sz="1300" b="0" i="0">
                <a:solidFill>
                  <a:srgbClr val="6B7A82"/>
                </a:solidFill>
                <a:latin typeface="Calibri"/>
              </a:rPr>
              <a:t>      ·      Supervision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Dr. TCHAWE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29107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ADDDC"/>
                </a:solidFill>
                <a:latin typeface="Calibri"/>
              </a:rPr>
              <a:t>Année académique 2025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DÉROULÉ DE LA PRÉSENTATION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Plan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1792224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Contexte &amp; problématique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Corrosion, verrou applicatif, transition I3.0 → 4.0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569464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253288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Objectifs &amp; démarche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Quatre objectifs, chaîne ISO 13381-1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310128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4" y="3273552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Méthodologie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Sonde ER · acquisition IoT · modèle ML · GMAO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050791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4014215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Résultats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Validation, performance, régimes, intégration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791456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9344" y="4754880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Discussion &amp; apports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Limites assumées, contributions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5532120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9344" y="5495544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Conclusion &amp; perspectives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Bilan et jumeau numérique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La corrosion : un enjeu majeur, un verrou applicatif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≈ 2 500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milliards $ / 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coût mondial de la corrosion (NACE IMPACT, 2016)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62272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1 070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km de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Tchad–Cameroun, cas d'étude (COTCO)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55864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30 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diamètre nominal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acier API 5L, corrosion multi-mécanismes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60520"/>
            <a:ext cx="105156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 i="0">
                <a:solidFill>
                  <a:srgbClr val="202B31"/>
                </a:solidFill>
                <a:latin typeface="Georgia"/>
              </a:rPr>
              <a:t>Le verrou n'est plus l'instrumentation.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Les opérateurs disposent déjà de sondes ER en place (cas COTCO) et tracent leurs interventions (SAP). Ce qui manque, c'est l'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intelligence applicative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: corréler résistance / température / temps, prédire le taux de corrosion et la durée de vie, et relier ces prédictions à l'action.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202B31"/>
                </a:solidFill>
                <a:latin typeface="Calibri"/>
              </a:rPr>
              <a:t>C'est la transition </a:t>
            </a:r>
            <a:r>
              <a:rPr sz="1450" b="1" i="0">
                <a:solidFill>
                  <a:srgbClr val="2C7A7B"/>
                </a:solidFill>
                <a:latin typeface="Calibri"/>
              </a:rPr>
              <a:t>Industrie 3.0 → 4.0</a:t>
            </a:r>
            <a:r>
              <a:rPr sz="1450" b="1" i="0">
                <a:solidFill>
                  <a:srgbClr val="202B31"/>
                </a:solidFill>
                <a:latin typeface="Calibri"/>
              </a:rPr>
              <a:t> que ce travail engage, à coût maîtrisé.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PROBLÉMATIQUE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Un paradoxe : des données riches, sous-exploitées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194560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1488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Pas de corrélation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les courbes ER ne sont pas reliées algorithmiquement aux variables de procédé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798064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52344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Pas de RUL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aucune estimation du temps avant défaillance (durée de vie résiduelle)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401568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3558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Boucle non prédictive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les historiques (SAP) existent, mais la prédiction n'y est pas reliée pour générer l'action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114800"/>
            <a:ext cx="10469880" cy="1874519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4114800"/>
            <a:ext cx="128016" cy="1874519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4315968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9601A"/>
                </a:solidFill>
                <a:latin typeface="Calibri"/>
              </a:rPr>
              <a:t>QUESTION CENTRALE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681728"/>
            <a:ext cx="9921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Calibri"/>
              </a:rPr>
              <a:t>Dans quelle mesure un système intégré, sonde ER instrumentée (ESP32/HX711/DS18B20), modèle XGBoost à double sortie CR + RUL en protocole </a:t>
            </a:r>
            <a:r>
              <a:rPr sz="1450" b="0" i="1">
                <a:solidFill>
                  <a:srgbClr val="CADDDC"/>
                </a:solidFill>
                <a:latin typeface="Calibri"/>
              </a:rPr>
              <a:t>run-to-failure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, et boucle décision → action, permet-il d'opérer la transition I3.0 → 4.0, transposable à COTCO comme aux PME industrielles africaines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OBJECTIFS DE L'ÉTUDE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Quatre objectifs, une chaîne de maintenance prédictive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Détection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3784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0944" y="2084831"/>
            <a:ext cx="1993392" cy="457200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Pronostic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6048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3208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93208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Diagnostic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8312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5472" y="2084831"/>
            <a:ext cx="1993392" cy="457200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Décision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17736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7736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6151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B7A82"/>
                </a:solidFill>
                <a:latin typeface="Calibri"/>
              </a:rPr>
              <a:t>Cadre normatif : ISO 13381-1 (pronostic &amp; durée de vie résiduelle)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303580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3035808"/>
            <a:ext cx="1097280" cy="713232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03580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3136391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Concevoir &amp; valider la sonde ER instrumentée IoT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Montage 2 fils + HX711 24 bits + ESP32, acquisition continue 30 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381304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3813048"/>
            <a:ext cx="1097280" cy="713232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81304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1363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Entraîner un modèle XGBoost CR + RUL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Validation leave-one-run-out, interprétabilité SHAP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459028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68680" y="4590288"/>
            <a:ext cx="1097280" cy="713232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59028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469087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Diagnostiquer les régimes &amp; facteurs de variabilité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Température dominante, répétabilité des conditions, alertes graduées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5367527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8680" y="5367527"/>
            <a:ext cx="1097280" cy="713232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367527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546811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Structurer la boucle décision →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Module GMAO maison (ordres de travail, KPIs), transposable open-source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MÉTHODOLOGIE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Une chaîne complète, du capteur à l'ordre de travail</a:t>
            </a:r>
          </a:p>
        </p:txBody>
      </p:sp>
      <p:pic>
        <p:nvPicPr>
          <p:cNvPr id="6" name="Picture 5" descr="fig_ii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393" y="1828800"/>
            <a:ext cx="3740053" cy="4160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68680" y="2148840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093976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Capteur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Sonde ER (fil de fer) + HX711 + DS18B20, piloté par ESP32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916936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862072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Données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Envoi HTTPS → Supabase (PostgreSQL) toutes les 30 s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685032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3630168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Modèle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Pipeline Python : nettoyage, compensation thermique, XGBoost CR + RUL, SHAP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453128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4398264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Décision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Diagnostic des régimes + alertes graduées (vert / orange / rouge)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5221224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516636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Action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Module GMAO maison : ordres de travail automatiques + KPIs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OS1 · DÉTECTION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Sonde à résistance électrique : un montage maison robuste</a:t>
            </a:r>
          </a:p>
        </p:txBody>
      </p:sp>
      <p:pic>
        <p:nvPicPr>
          <p:cNvPr id="6" name="Picture 5" descr="fig_montage_r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148840"/>
            <a:ext cx="4983480" cy="27828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4406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Principe,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la résistance d'un fil croît quand la corrosion réduit sa section : </a:t>
            </a:r>
            <a:r>
              <a:rPr sz="1300" b="1" i="1">
                <a:solidFill>
                  <a:srgbClr val="C9601A"/>
                </a:solidFill>
                <a:latin typeface="Calibri"/>
              </a:rPr>
              <a:t>R = ρL/πr².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Montage retenu,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2 fils à injection de courant (≈ 1,8 mA), lecture différentielle HX711 24 bits.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9601A"/>
                </a:solidFill>
                <a:latin typeface="Georgia"/>
              </a:rPr>
              <a:t>Pont de Wheatstone abandonné,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mode commun du HX711, signal utile noyé dans le bruit.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Valeurs justifiées,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970 Ω : courant faible (évite échauffement / polarisation) mais V lisible (plage ±40 mV).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Étalonnage,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par substitution sur résistances étalons ; un étalon de 4,7 Ω, lu 4,5–4,8 Ω, confirme la justesse (écart ≤ 4 %).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Température,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DS18B20 protégé (tube + huile) ; cadence 30 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OS2 · PRONOSTIC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XGBoost : le bon modèle pour « beaucoup de points, peu de runs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Pourquoi pas un réseau de neurones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06040"/>
            <a:ext cx="5532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Chaque essai ≈ 1 000–2 500 lectures, mais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peu d'essais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beaucoup de points, peu de runs.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→ MLP / LSTM / Transformer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sur-apprennent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sur ce volume.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→ XGBoost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(arbres boostés, tabulaire)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est optimal à faible volume, régularisé,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interprétable par SHAP.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572000"/>
            <a:ext cx="5486400" cy="1417320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754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VALIDATION  leave-one-run-out (LORO)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13892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Un essai entier est retiré puis prédit par les autres : on mesure la </a:t>
            </a:r>
            <a:r>
              <a:rPr sz="1250" b="1" i="0">
                <a:solidFill>
                  <a:srgbClr val="CADDDC"/>
                </a:solidFill>
                <a:latin typeface="Calibri"/>
              </a:rPr>
              <a:t>généralisation à un essai jamais vu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pic>
        <p:nvPicPr>
          <p:cNvPr id="11" name="Picture 10" descr="fig_iii3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80705"/>
            <a:ext cx="4892040" cy="24109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29400" y="5779008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A82"/>
                </a:solidFill>
                <a:latin typeface="Calibri"/>
              </a:rPr>
              <a:t>Importance des variables (SHAP) : dégradation cumulée + température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RÉSULTATS · OS2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Le modèle généralise, là où les conditions sont couvertes</a:t>
            </a:r>
          </a:p>
        </p:txBody>
      </p:sp>
      <p:pic>
        <p:nvPicPr>
          <p:cNvPr id="6" name="Picture 5" descr="fig_iii3_loro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464736"/>
            <a:ext cx="5166360" cy="316296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" y="2148840"/>
            <a:ext cx="53035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16252E"/>
                </a:solidFill>
                <a:latin typeface="Georgia"/>
              </a:rPr>
              <a:t>R² = +0,29</a:t>
            </a:r>
            <a:r>
              <a:rPr sz="1300" b="0" i="0">
                <a:solidFill>
                  <a:srgbClr val="6B7A82"/>
                </a:solidFill>
                <a:latin typeface="Calibri"/>
              </a:rPr>
              <a:t>  (LORO actuel)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546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depuis −1,77 (couverture nulle) · bat les références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5349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Une trajectoire, pas un point : couvrir et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répéter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les conditions 30 °C a fait passer le LORO de −1,77 à +0,29.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L'apport n'est pas la valeur mais la </a:t>
            </a:r>
            <a:r>
              <a:rPr sz="1400" b="1" i="0">
                <a:solidFill>
                  <a:srgbClr val="C9601A"/>
                </a:solidFill>
                <a:latin typeface="Georgia"/>
              </a:rPr>
              <a:t>structure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du R² : positif si conditions couvertes et répétées, négatif sinon.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02B31"/>
                </a:solidFill>
                <a:latin typeface="Calibri"/>
              </a:rPr>
              <a:t>Ajouter une morphologie non appariée le ramène à ≈ +0,20, métrique encore 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bruitée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(peu d'essais).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RÉSULTATS · OS3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Température dominante &amp; deux contre-exemples instructifs</a:t>
            </a:r>
          </a:p>
        </p:txBody>
      </p:sp>
      <p:pic>
        <p:nvPicPr>
          <p:cNvPr id="6" name="Picture 5" descr="fig_iii4_contrexe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706863"/>
            <a:ext cx="5166360" cy="27244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349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La température est la variable dominante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(Arrhenius : la vitesse de corrosion croît exponentiellement avec 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02B31"/>
                </a:solidFill>
                <a:latin typeface="Calibri"/>
              </a:rPr>
              <a:t>Deux essais imprédictibles = deux facteurs isolés :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785615"/>
            <a:ext cx="182880" cy="18288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749039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Run #15 : 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régulation thermique dérivante (31 → 28 °C)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334255"/>
            <a:ext cx="182880" cy="18288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4297679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Run #17 : 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concentration d'acide (HCl évaporé avant immersion)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983480"/>
            <a:ext cx="5349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→ La fiabilité exige le contrôle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simultané</a:t>
            </a:r>
            <a:r>
              <a:rPr sz="1350" b="1" i="0">
                <a:solidFill>
                  <a:srgbClr val="202B31"/>
                </a:solidFill>
                <a:latin typeface="Calibri"/>
              </a:rPr>
              <a:t> de tous les facteurs, pas seulement la température.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COMPRÉHENSION PHYSIQUE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Emballement &amp; rupture : une divergence géométrique</a:t>
            </a:r>
          </a:p>
        </p:txBody>
      </p:sp>
      <p:pic>
        <p:nvPicPr>
          <p:cNvPr id="6" name="Picture 5" descr="fig_iii4_embal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95887"/>
            <a:ext cx="5212080" cy="31463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3492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La section varie en r², donc </a:t>
            </a:r>
            <a:r>
              <a:rPr sz="1500" b="1" i="1">
                <a:solidFill>
                  <a:srgbClr val="C9601A"/>
                </a:solidFill>
                <a:latin typeface="Georgia"/>
              </a:rPr>
              <a:t>R s'emballe en 1/r³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La </a:t>
            </a:r>
            <a:r>
              <a:rPr sz="1350" b="1" i="0">
                <a:solidFill>
                  <a:srgbClr val="202B31"/>
                </a:solidFill>
                <a:latin typeface="Calibri"/>
              </a:rPr>
              <a:t>rupture mécanique coïncide avec le début de l'emballement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« section → 0 » = explosion de R ET perte de tenue.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Après rupture,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la conduction résiduelle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(électrolyte HCl + dernier filament) maintient une résistance croissante jusqu'au circuit ouvert.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Cette portion terminale est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électrolytique, non métallique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tronquée et exclue de l'apprentissage.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RÉSULTATS · OS4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Boucle décision → action : un module GMAO maison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Aucun CMMS open-source (GLPI, OpenMaint, Snipe-IT…) n'offre d'API exploitable en version gratuite.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9601A"/>
                </a:solidFill>
                <a:latin typeface="Calibri"/>
              </a:rPr>
              <a:t>→ </a:t>
            </a:r>
            <a:r>
              <a:rPr sz="1450" b="1" i="0">
                <a:solidFill>
                  <a:srgbClr val="202B31"/>
                </a:solidFill>
                <a:latin typeface="Georgia"/>
              </a:rPr>
              <a:t>Module GMAO maison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intégré à Streamlit + Supabase : à chaque alerte, un 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ordre de travail enrichi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(CR, RUL, régime, section) est généré et tracé, sans appel externe.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MTBF · MTTR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indicateurs de maintenance calculés sur l'historique des 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62272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4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Gratuit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304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coût de licence nul, accessible aux PME africaines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55864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Transposable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même mapping reportable sur un CMMS open-source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Jumeau numérique : prédire, confirmer, apprendre des écarts</a:t>
            </a:r>
          </a:p>
        </p:txBody>
      </p:sp>
      <p:pic>
        <p:nvPicPr>
          <p:cNvPr id="6" name="Picture 5" descr="fig_iii3_band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07165"/>
            <a:ext cx="5257800" cy="20837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057400"/>
            <a:ext cx="5303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Un jumeau calibré sur les essais réels génère une </a:t>
            </a:r>
            <a:r>
              <a:rPr sz="1400" b="1" i="0">
                <a:solidFill>
                  <a:srgbClr val="C9601A"/>
                </a:solidFill>
                <a:latin typeface="Georgia"/>
              </a:rPr>
              <a:t>bande prédictive de durée de vie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, l'un des </a:t>
            </a:r>
            <a:r>
              <a:rPr sz="1400" b="1" i="0">
                <a:solidFill>
                  <a:srgbClr val="2C7A7B"/>
                </a:solidFill>
                <a:latin typeface="Calibri"/>
              </a:rPr>
              <a:t>trois estimateurs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confrontés en live (physique · XGBoost · jumeau).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383280"/>
            <a:ext cx="5303520" cy="1463040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547872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ADDDC"/>
                </a:solidFill>
                <a:latin typeface="Calibri"/>
              </a:rPr>
              <a:t>Deux tests « prédire-puis-confirmer » 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ADDDC"/>
                </a:solidFill>
                <a:latin typeface="Calibri"/>
              </a:rPr>
              <a:t>Run #21 : </a:t>
            </a:r>
            <a:r>
              <a:rPr sz="1500" b="1" i="0">
                <a:solidFill>
                  <a:srgbClr val="FFFFFF"/>
                </a:solidFill>
                <a:latin typeface="Georgia"/>
              </a:rPr>
              <a:t>13,1 h</a:t>
            </a:r>
            <a:r>
              <a:rPr sz="1250" b="1" i="0">
                <a:solidFill>
                  <a:srgbClr val="2C7A7B"/>
                </a:solidFill>
                <a:latin typeface="Calibri"/>
              </a:rPr>
              <a:t>   ✓ dans la bande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ADDDC"/>
                </a:solidFill>
                <a:latin typeface="Calibri"/>
              </a:rPr>
              <a:t>Run #22 : </a:t>
            </a:r>
            <a:r>
              <a:rPr sz="1500" b="1" i="0">
                <a:solidFill>
                  <a:srgbClr val="C9601A"/>
                </a:solidFill>
                <a:latin typeface="Georgia"/>
              </a:rPr>
              <a:t>11,95 h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   ✗ en deçà (le plus rapide)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02B31"/>
                </a:solidFill>
                <a:latin typeface="Calibri"/>
              </a:rPr>
              <a:t>Le jumeau 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interpole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entre morphologies vues, il n'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extrapole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pas. La prédictibilité tient à la répétition au sein d'une </a:t>
            </a:r>
            <a:r>
              <a:rPr sz="1250" b="1" i="0">
                <a:solidFill>
                  <a:srgbClr val="2C7A7B"/>
                </a:solidFill>
                <a:latin typeface="Calibri"/>
              </a:rPr>
              <a:t>même morphologie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, pas au simple nombre d'essais.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Limites assumées d'une preuve de concept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103120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103120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Matériau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fil de fer ≠ acier API 5L : les valeurs absolues de CR ne sont pas directement transposables.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035808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3035808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035808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Effet acide-shunt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en HCl concentré, l'électrolyte shunte la mesure, d'où l'emploi d'un fil fin.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968496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3968496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968496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Jeu de données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peu d'essais : métriques bruitées, en cours de consolidation.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901183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4901183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4901183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Couverture thermique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une seule plage (~30 °C) répétée ; ~32 °C encore représentée par un seul essai.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4360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1">
                <a:solidFill>
                  <a:srgbClr val="2C7A7B"/>
                </a:solidFill>
                <a:latin typeface="Calibri"/>
              </a:rPr>
              <a:t>Ces limites ne sont pas intrinsèques à la méthode : elles définissent les conditions du passage à l'échelle.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APPORTS DU TRAVAIL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Ce que cette étude apporte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221992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148840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Apport méthodologique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La fiabilité du ML se lit dans la STRUCTURE du R² (positif si conditions couvertes et répétées), rarement explicité dans la littérature.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209544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136392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Chaîne complète low-cost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De la mesure à l'ordre de travail, en matériel accessible localement (~50 000 FCFA) et logiciels open-source.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197096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123944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Double transposabilité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Saut I3.0 → 4.0 essentiellement logiciel chez COTCO ; déploiement autonome pour les PME africaines.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184648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111496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Rigueur &amp; traçabilité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Chaque donnée, seuil et décision adossé à une source (norme, référence, loi physique).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0350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601A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FFFFFF"/>
                </a:solidFill>
                <a:latin typeface="Georgia"/>
              </a:rPr>
              <a:t>Une brique fondatrice, validée et reproductible</a:t>
            </a:r>
          </a:p>
        </p:txBody>
      </p:sp>
      <p:sp>
        <p:nvSpPr>
          <p:cNvPr id="6" name="Oval 5"/>
          <p:cNvSpPr/>
          <p:nvPr/>
        </p:nvSpPr>
        <p:spPr>
          <a:xfrm>
            <a:off x="886968" y="2103120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2140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OS1 :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chaîne d'acquisition ER fonctionnelle, suivi d'essais run-to-failure complets.</a:t>
            </a:r>
          </a:p>
        </p:txBody>
      </p:sp>
      <p:sp>
        <p:nvSpPr>
          <p:cNvPr id="8" name="Oval 7"/>
          <p:cNvSpPr/>
          <p:nvPr/>
        </p:nvSpPr>
        <p:spPr>
          <a:xfrm>
            <a:off x="886968" y="2816352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83464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OS2 :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XGBoost prédit le CR et surpasse les baselines, sous condition de couverture.</a:t>
            </a:r>
          </a:p>
        </p:txBody>
      </p:sp>
      <p:sp>
        <p:nvSpPr>
          <p:cNvPr id="10" name="Oval 9"/>
          <p:cNvSpPr/>
          <p:nvPr/>
        </p:nvSpPr>
        <p:spPr>
          <a:xfrm>
            <a:off x="886968" y="3529584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547872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OS3 :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température dominante ; la répétabilité des conditions fait la fiabilité.</a:t>
            </a:r>
          </a:p>
        </p:txBody>
      </p:sp>
      <p:sp>
        <p:nvSpPr>
          <p:cNvPr id="12" name="Oval 11"/>
          <p:cNvSpPr/>
          <p:nvPr/>
        </p:nvSpPr>
        <p:spPr>
          <a:xfrm>
            <a:off x="886968" y="4242816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261104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OS4 :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boucle décision → action démontrée par un module GMAO maison, à coût nul.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212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Objectifs partiellement atteints, en cours de consolidation. </a:t>
            </a:r>
            <a:r>
              <a:rPr sz="1450" b="0" i="1">
                <a:solidFill>
                  <a:srgbClr val="CADDDC"/>
                </a:solidFill>
                <a:latin typeface="Calibri"/>
              </a:rPr>
              <a:t>Mais un prototype qui va de la mesure à la décision, transposable des deux côtés.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ADDDC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Merci de votre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1">
                <a:solidFill>
                  <a:srgbClr val="C9601A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ADDDC"/>
                </a:solidFill>
                <a:latin typeface="Calibri"/>
              </a:rPr>
              <a:t>BATOUMBI IKOND Ricky Parfait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Master 2, Maintenance Industrielle et Productique  ·  ESTL La Salle  ·  2025–2026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