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126480"/>
            <a:ext cx="12191695" cy="731520"/>
          </a:xfrm>
          <a:prstGeom prst="rect">
            <a:avLst/>
          </a:prstGeom>
          <a:solidFill>
            <a:srgbClr val="1E333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603504"/>
            <a:ext cx="10698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 i="0">
                <a:solidFill>
                  <a:srgbClr val="CADDDC"/>
                </a:solidFill>
                <a:latin typeface="Calibri"/>
              </a:rPr>
              <a:t>RÉPUBLIQUE DU CAMEROUN  ·  ESTL LA SALLE, GÉNIE INDUSTRIEL &amp; MAINTENANCE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987552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1">
                <a:solidFill>
                  <a:srgbClr val="2C7A7B"/>
                </a:solidFill>
                <a:latin typeface="Calibri"/>
              </a:rPr>
              <a:t>Mémoire de Master 2, Maintenance Industrielle et Productique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1600200"/>
            <a:ext cx="1088136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Maintenance prédictive de la corrosion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00400"/>
            <a:ext cx="10607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850" b="0" i="1">
                <a:solidFill>
                  <a:srgbClr val="CADDDC"/>
                </a:solidFill>
                <a:latin typeface="Calibri"/>
              </a:rPr>
              <a:t>Une transition Industrie 3.0 → 4.0 par sonde connectée et apprentissage automatique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4160520"/>
            <a:ext cx="4297680" cy="32004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389120"/>
            <a:ext cx="8686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Présenté et soutenu par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BATOUMBI IKOND Ricky Parfait</a:t>
            </a:r>
            <a:r>
              <a:rPr sz="1200" b="0" i="0">
                <a:solidFill>
                  <a:srgbClr val="6B7A82"/>
                </a:solidFill>
                <a:latin typeface="Calibri"/>
              </a:rPr>
              <a:t>   (Mat. 0111 II17)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Sous l'encadrement de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M. FEZEU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    ·      Supervision   </a:t>
            </a:r>
            <a:r>
              <a:rPr sz="1500" b="1" i="0">
                <a:solidFill>
                  <a:srgbClr val="FFFFFF"/>
                </a:solidFill>
                <a:latin typeface="Calibri"/>
              </a:rPr>
              <a:t>Dr. TCHAWE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6291072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ADDDC"/>
                </a:solidFill>
                <a:latin typeface="Calibri"/>
              </a:rPr>
              <a:t>Année académique 2025 –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DÉROULÉ DE LA PRÉSENTATION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Plan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182880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09344" y="179222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Contexte &amp; problématique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Corrosion, verrou applicatif, transition I3.0 → 4.0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569464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9344" y="2532888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Objectifs &amp; démarche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Quatre objectifs, chaîne ISO 13381-1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310128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9344" y="3273552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Méthodologie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Sonde ER · acquisition IoT · modèle ML · GMAO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4050791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09344" y="4014215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Résultats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Validation, performance, régimes, intégration</a:t>
            </a:r>
          </a:p>
        </p:txBody>
      </p:sp>
      <p:sp>
        <p:nvSpPr>
          <p:cNvPr id="14" name="Oval 13"/>
          <p:cNvSpPr/>
          <p:nvPr/>
        </p:nvSpPr>
        <p:spPr>
          <a:xfrm>
            <a:off x="868680" y="4791456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9344" y="4754880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Discussion &amp; apports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Limites assumées, contributions</a:t>
            </a:r>
          </a:p>
        </p:txBody>
      </p:sp>
      <p:sp>
        <p:nvSpPr>
          <p:cNvPr id="16" name="Oval 15"/>
          <p:cNvSpPr/>
          <p:nvPr/>
        </p:nvSpPr>
        <p:spPr>
          <a:xfrm>
            <a:off x="868680" y="5532120"/>
            <a:ext cx="548640" cy="548640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  <a:latin typeface="Georgia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9344" y="5495544"/>
            <a:ext cx="96926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900" b="1" i="0">
                <a:solidFill>
                  <a:srgbClr val="202B31"/>
                </a:solidFill>
                <a:latin typeface="Georgia"/>
              </a:rPr>
              <a:t>Conclusion &amp; perspectives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Bilan et jumeau numérique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02 / 19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CONTEXTE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La corrosion : un enjeu majeur, un verrou applicatif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≈ 2 500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milliards $ / 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coût mondial de la corrosion (NACE IMPACT, 2016)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62272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62272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90872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1 070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km de pipeline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90872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Tchad–Cameroun, cas d'étude (COTCO)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5864" y="2011680"/>
            <a:ext cx="3419856" cy="1783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55864" y="2011680"/>
            <a:ext cx="3419856" cy="10972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84464" y="2249424"/>
            <a:ext cx="30175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700" b="1" i="0">
                <a:solidFill>
                  <a:srgbClr val="16252E"/>
                </a:solidFill>
                <a:latin typeface="Georgia"/>
              </a:rPr>
              <a:t>30 in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C9601A"/>
                </a:solidFill>
                <a:latin typeface="Calibri"/>
              </a:rPr>
              <a:t>diamètre nominal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3200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6B7A82"/>
                </a:solidFill>
                <a:latin typeface="Calibri"/>
              </a:rPr>
              <a:t>acier API 5L, corrosion multi-mécanismes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160520"/>
            <a:ext cx="1051560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700" b="1" i="0">
                <a:solidFill>
                  <a:srgbClr val="202B31"/>
                </a:solidFill>
                <a:latin typeface="Georgia"/>
              </a:rPr>
              <a:t>Le verrou n'est plus l'instrumentation.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Les opérateurs disposent déjà de sondes ER en place (cas COTCO) et tracent leurs interventions (SAP). Ce qui manque, c'est l'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intelligence applicative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: corréler résistance / température / temps, prédire le taux de corrosion et la durée de vie, et relier ces prédictions à l'action.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900"/>
              </a:spcAft>
            </a:pPr>
            <a:r>
              <a:rPr sz="1450" b="1" i="0">
                <a:solidFill>
                  <a:srgbClr val="202B31"/>
                </a:solidFill>
                <a:latin typeface="Calibri"/>
              </a:rPr>
              <a:t>C'est la transition </a:t>
            </a:r>
            <a:r>
              <a:rPr sz="1450" b="1" i="0">
                <a:solidFill>
                  <a:srgbClr val="2C7A7B"/>
                </a:solidFill>
                <a:latin typeface="Calibri"/>
              </a:rPr>
              <a:t>Industrie 3.0 → 4.0</a:t>
            </a:r>
            <a:r>
              <a:rPr sz="1450" b="1" i="0">
                <a:solidFill>
                  <a:srgbClr val="202B31"/>
                </a:solidFill>
                <a:latin typeface="Calibri"/>
              </a:rPr>
              <a:t> que ce travail engage, à coût maîtrisé.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03 / 19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PROBLÉMATIQUE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 paradoxe : des données riches, sous-exploitées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194560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34440" y="2148840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corrélation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courbes ER ne sont pas reliées algorithmiquement aux variables de procédé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2798064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34440" y="2752344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Pas de RUL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aucune estimation du temps avant défaillance (durée de vie résiduelle)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3401568"/>
            <a:ext cx="201168" cy="201168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355848"/>
            <a:ext cx="100584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Boucle non prédictive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les historiques (SAP) existent, mais la prédiction n'y est pas reliée pour générer l'action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4114800"/>
            <a:ext cx="10469880" cy="1874519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4114800"/>
            <a:ext cx="128016" cy="1874519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4315968"/>
            <a:ext cx="9875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9601A"/>
                </a:solidFill>
                <a:latin typeface="Calibri"/>
              </a:rPr>
              <a:t>QUESTION CENTRALE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681728"/>
            <a:ext cx="9921240" cy="1234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FFFFFF"/>
                </a:solidFill>
                <a:latin typeface="Calibri"/>
              </a:rPr>
              <a:t>Dans quelle mesure un système intégré, sonde ER instrumentée (ESP32/HX711/DS18B20), modèle XGBoost à double sortie CR + RUL en protocole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run-to-failure</a:t>
            </a:r>
            <a:r>
              <a:rPr sz="1450" b="0" i="0">
                <a:solidFill>
                  <a:srgbClr val="FFFFFF"/>
                </a:solidFill>
                <a:latin typeface="Calibri"/>
              </a:rPr>
              <a:t>, et boucle décision → action, permet-il d'opérer la transition I3.0 → 4.0, transposable à COTCO comme aux PME industrielles africaines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04 / 19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OBJECTIFS DE L'ÉTUDE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Quatre objectifs, une chaîne de maintenance prédictive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43784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Pronostic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956048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93208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93208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Diagnostic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68312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5472" y="2084831"/>
            <a:ext cx="1993392" cy="457200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05472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Décision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2093976"/>
            <a:ext cx="274320" cy="4389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000" b="1" i="0">
                <a:solidFill>
                  <a:srgbClr val="C9601A"/>
                </a:solidFill>
                <a:latin typeface="Calibri"/>
              </a:rPr>
              <a:t>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317736" y="2084831"/>
            <a:ext cx="1993392" cy="457200"/>
          </a:xfrm>
          <a:prstGeom prst="round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17736" y="2148840"/>
            <a:ext cx="199339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Action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2615184"/>
            <a:ext cx="10515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1">
                <a:solidFill>
                  <a:srgbClr val="6B7A82"/>
                </a:solidFill>
                <a:latin typeface="Calibri"/>
              </a:rPr>
              <a:t>Cadre normatif : ISO 13381-1 (pronostic &amp; durée de vie résiduelle)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303580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68680" y="303580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303580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148840" y="3136391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Concevoir &amp; valider la sonde ER instrumentée IoT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Montage 2 fils + HX711 24 bits + ESP32, acquisition continue 30 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68680" y="381304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868680" y="3813048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" y="381304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148840" y="391363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Entraîner un modèle XGBoost CR + RUL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Validation leave-one-run-out, interprétabilité SHAP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68680" y="4590288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68680" y="4590288"/>
            <a:ext cx="1097280" cy="713232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8680" y="4590288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469087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Diagnostiquer les régimes &amp; facteurs de variabilité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Température dominante, répétabilité des conditions, alertes graduées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68680" y="5367527"/>
            <a:ext cx="10469880" cy="713232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68680" y="5367527"/>
            <a:ext cx="1097280" cy="713232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8680" y="5367527"/>
            <a:ext cx="1097280" cy="7132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FFFFFF"/>
                </a:solidFill>
                <a:latin typeface="Georgia"/>
              </a:rPr>
              <a:t>OS4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148840" y="5468112"/>
            <a:ext cx="9052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Structurer la boucle décision → action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Module GMAO maison (ordres de travail, KPIs), transposable open-source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05 / 19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MÉTHODOLOGIE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Une chaîne complète, du capteur à l'ordre de travail</a:t>
            </a:r>
          </a:p>
        </p:txBody>
      </p:sp>
      <p:pic>
        <p:nvPicPr>
          <p:cNvPr id="6" name="Picture 5" descr="fig_ii1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5393" y="1828800"/>
            <a:ext cx="3740053" cy="4160520"/>
          </a:xfrm>
          <a:prstGeom prst="rect">
            <a:avLst/>
          </a:prstGeom>
        </p:spPr>
      </p:pic>
      <p:sp>
        <p:nvSpPr>
          <p:cNvPr id="7" name="Oval 6"/>
          <p:cNvSpPr/>
          <p:nvPr/>
        </p:nvSpPr>
        <p:spPr>
          <a:xfrm>
            <a:off x="868680" y="2148840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44752" y="2093976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Capteur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Sonde ER (fil de fer) + HX711 + DS18B20, piloté par ESP32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2916936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44752" y="2862072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Données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Envoi HTTPS → Supabase (PostgreSQL) toutes les 30 s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3685032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44752" y="3630168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Modèle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Pipeline Python : nettoyage, compensation thermique, XGBoost CR + RUL, SHAP</a:t>
            </a:r>
          </a:p>
        </p:txBody>
      </p:sp>
      <p:sp>
        <p:nvSpPr>
          <p:cNvPr id="13" name="Oval 12"/>
          <p:cNvSpPr/>
          <p:nvPr/>
        </p:nvSpPr>
        <p:spPr>
          <a:xfrm>
            <a:off x="868680" y="4453128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44752" y="4398264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Décision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Diagnostic des régimes + alertes graduées (vert / orange / rouge)</a:t>
            </a:r>
          </a:p>
        </p:txBody>
      </p:sp>
      <p:sp>
        <p:nvSpPr>
          <p:cNvPr id="15" name="Oval 14"/>
          <p:cNvSpPr/>
          <p:nvPr/>
        </p:nvSpPr>
        <p:spPr>
          <a:xfrm>
            <a:off x="868680" y="5221224"/>
            <a:ext cx="438912" cy="438912"/>
          </a:xfrm>
          <a:prstGeom prst="ellipse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500" b="1">
                <a:solidFill>
                  <a:srgbClr val="FFFFFF"/>
                </a:solidFill>
                <a:latin typeface="Georgia"/>
              </a:rPr>
              <a:t>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44752" y="5166360"/>
            <a:ext cx="484632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450" b="1" i="0">
                <a:solidFill>
                  <a:srgbClr val="C9601A"/>
                </a:solidFill>
                <a:latin typeface="Georgia"/>
              </a:rPr>
              <a:t>Action</a:t>
            </a:r>
          </a:p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B31"/>
                </a:solidFill>
                <a:latin typeface="Calibri"/>
              </a:rPr>
              <a:t>Module GMAO maison : ordres de travail automatiques + KPIs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06 / 19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OS1 · DÉTECTION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Sonde à résistance électrique : un montage maison robuste</a:t>
            </a:r>
          </a:p>
        </p:txBody>
      </p:sp>
      <p:pic>
        <p:nvPicPr>
          <p:cNvPr id="6" name="Picture 5" descr="fig_montage_re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2148840"/>
            <a:ext cx="4983480" cy="278282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44068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Principe,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la résistance d'un fil croît quand la corrosion réduit sa section : </a:t>
            </a:r>
            <a:r>
              <a:rPr sz="1300" b="1" i="1">
                <a:solidFill>
                  <a:srgbClr val="C9601A"/>
                </a:solidFill>
                <a:latin typeface="Calibri"/>
              </a:rPr>
              <a:t>R = ρL/πr².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Montage retenu,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2 fils à injection de courant (≈ 1,8 mA), lecture différentielle HX711 24 bits.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C9601A"/>
                </a:solidFill>
                <a:latin typeface="Georgia"/>
              </a:rPr>
              <a:t>Pont de Wheatstone abandonné,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mode commun du HX711, signal utile noyé dans le bruit.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Valeurs justifiées,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970 Ω : courant faible (évite échauffement / polarisation) mais V lisible (plage ±40 mV).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Étalonnage,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par substitution sur résistances étalons ; un étalon de 4,7 Ω, lu 4,5–4,8 Ω, confirme la justesse (écart ≤ 4 %).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202B31"/>
                </a:solidFill>
                <a:latin typeface="Georgia"/>
              </a:rPr>
              <a:t>Température, </a:t>
            </a:r>
            <a:r>
              <a:rPr sz="1300" b="0" i="0">
                <a:solidFill>
                  <a:srgbClr val="202B31"/>
                </a:solidFill>
                <a:latin typeface="Calibri"/>
              </a:rPr>
              <a:t>DS18B20 protégé (tube + huile) ; cadence 30 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07 / 19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PRONOSTIC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XGBoost : le bon modèle pour « beaucoup de points, peu de runs 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Pourquoi pas un réseau de neurones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606040"/>
            <a:ext cx="553212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Chaque essai ≈ 1 000–2 500 lectures, mais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peu d'essais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beaucoup de points, peu de runs.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MLP / LSTM / Transformer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sur-apprennent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sur ce volume.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→ XGBoost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(arbres boostés, tabulaire)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est optimal à faible volume, régularisé,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interprétable par SHAP.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4572000"/>
            <a:ext cx="5486400" cy="141732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VALIDATION  leave-one-run-out (LORO)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5138928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FFFFFF"/>
                </a:solidFill>
                <a:latin typeface="Calibri"/>
              </a:rPr>
              <a:t>Un essai entier est retiré puis prédit par les autres : on mesure la </a:t>
            </a:r>
            <a:r>
              <a:rPr sz="1250" b="1" i="0">
                <a:solidFill>
                  <a:srgbClr val="CADDDC"/>
                </a:solidFill>
                <a:latin typeface="Calibri"/>
              </a:rPr>
              <a:t>généralisation à un essai jamais vu</a:t>
            </a:r>
            <a:r>
              <a:rPr sz="1250" b="0" i="0">
                <a:solidFill>
                  <a:srgbClr val="FFFFFF"/>
                </a:solidFill>
                <a:latin typeface="Calibri"/>
              </a:rPr>
              <a:t>.</a:t>
            </a:r>
          </a:p>
        </p:txBody>
      </p:sp>
      <p:pic>
        <p:nvPicPr>
          <p:cNvPr id="11" name="Picture 10" descr="fig_iii3_featu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9400" y="2680705"/>
            <a:ext cx="4892040" cy="241098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629400" y="5779008"/>
            <a:ext cx="4892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 i="1">
                <a:solidFill>
                  <a:srgbClr val="6B7A82"/>
                </a:solidFill>
                <a:latin typeface="Calibri"/>
              </a:rPr>
              <a:t>Importance des variables (SHAP) : dégradation cumulée + température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08 / 19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PRONOSTIC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Comment XGBoost apprend : corriger ses erreurs, 500 fois</a:t>
            </a:r>
          </a:p>
        </p:txBody>
      </p:sp>
      <p:pic>
        <p:nvPicPr>
          <p:cNvPr id="6" name="Picture 5" descr="fig_xgb_princip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042" y="1965960"/>
            <a:ext cx="10791155" cy="32461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4406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202B31"/>
                </a:solidFill>
                <a:latin typeface="Georgia"/>
              </a:rPr>
              <a:t>Un arbre seul prédit mal. 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Mais chaque arbre suivant apprend les erreurs du précédent, et la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somme des petites corrections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donne la prédiction du taux de corrosion. C'est le gradient boosting.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09 / 19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OS2 ·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D'où vient le R² moyen de +0,29 ?</a:t>
            </a:r>
          </a:p>
        </p:txBody>
      </p:sp>
      <p:pic>
        <p:nvPicPr>
          <p:cNvPr id="6" name="Picture 5" descr="fig_loro_mecani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7848" y="1920240"/>
            <a:ext cx="10711542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5623560"/>
            <a:ext cx="104241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Un pli par essai de la série 30 °C, et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le modèle ne voit jamais l'essai qu'il doit prédire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 Le +0,29 est simplement la moyenne des deux R² obtenus.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10 / 19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RÉSULTATS · OS2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Le modèle généralise, là où les conditions sont couvertes</a:t>
            </a:r>
          </a:p>
        </p:txBody>
      </p:sp>
      <p:pic>
        <p:nvPicPr>
          <p:cNvPr id="6" name="Picture 5" descr="fig_iii3_loro_ev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464736"/>
            <a:ext cx="5166360" cy="3162966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868680" y="2148840"/>
            <a:ext cx="5303520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2860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800" b="1" i="0">
                <a:solidFill>
                  <a:srgbClr val="16252E"/>
                </a:solidFill>
                <a:latin typeface="Georgia"/>
              </a:rPr>
              <a:t>R² = +0,29</a:t>
            </a:r>
            <a:r>
              <a:rPr sz="1300" b="0" i="0">
                <a:solidFill>
                  <a:srgbClr val="6B7A82"/>
                </a:solidFill>
                <a:latin typeface="Calibri"/>
              </a:rPr>
              <a:t>  (LORO actuel)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3154680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depuis −1,77 (couverture nulle) · bat les références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3794760"/>
            <a:ext cx="53492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Une trajectoire, pas un point : couvrir et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répéter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les conditions 30 °C a fait passer le LORO de −1,77 à +0,29.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L'apport n'est pas la valeur mais la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structure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du R² : positif si conditions couvertes et répétées, négatif sinon.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7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Ajouter une morphologie non appariée le ramène à ≈ +0,20, métrique encore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bruitée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(peu d'essais).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11 / 19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· OS3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Température dominante &amp; deux contre-exemples instructifs</a:t>
            </a:r>
          </a:p>
        </p:txBody>
      </p:sp>
      <p:pic>
        <p:nvPicPr>
          <p:cNvPr id="6" name="Picture 5" descr="fig_iii4_contrexemp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2706863"/>
            <a:ext cx="5166360" cy="2724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La température est la variable dominante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(Arrhenius : la vitesse de corrosion croît exponentiellement avec T).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246120"/>
            <a:ext cx="5349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202B31"/>
                </a:solidFill>
                <a:latin typeface="Calibri"/>
              </a:rPr>
              <a:t>Deux essais imprédictibles = deux facteurs isolés :</a:t>
            </a:r>
          </a:p>
        </p:txBody>
      </p:sp>
      <p:sp>
        <p:nvSpPr>
          <p:cNvPr id="9" name="Oval 8"/>
          <p:cNvSpPr/>
          <p:nvPr/>
        </p:nvSpPr>
        <p:spPr>
          <a:xfrm>
            <a:off x="868680" y="378561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0432" y="374903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#15 :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régulation thermique dérivante (31 → 28 °C)</a:t>
            </a:r>
          </a:p>
        </p:txBody>
      </p:sp>
      <p:sp>
        <p:nvSpPr>
          <p:cNvPr id="11" name="Oval 10"/>
          <p:cNvSpPr/>
          <p:nvPr/>
        </p:nvSpPr>
        <p:spPr>
          <a:xfrm>
            <a:off x="868680" y="4334255"/>
            <a:ext cx="182880" cy="18288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70432" y="4297679"/>
            <a:ext cx="502920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Run #17 : 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concentration d'acide (HCl évaporé avant immersion)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983480"/>
            <a:ext cx="5349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202B31"/>
                </a:solidFill>
                <a:latin typeface="Calibri"/>
              </a:rPr>
              <a:t>→ La fiabilité exige le contrôle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simultané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 de tous les facteurs, pas seulement la température.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12 / 19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COMPRÉHENSION PHYSIQUE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Emballement &amp; rupture : une divergence géométrique</a:t>
            </a:r>
          </a:p>
        </p:txBody>
      </p:sp>
      <p:pic>
        <p:nvPicPr>
          <p:cNvPr id="6" name="Picture 5" descr="fig_iii4_emball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495887"/>
            <a:ext cx="5212080" cy="314638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148840"/>
            <a:ext cx="534924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La section varie en r², donc </a:t>
            </a:r>
            <a:r>
              <a:rPr sz="1500" b="1" i="1">
                <a:solidFill>
                  <a:srgbClr val="C9601A"/>
                </a:solidFill>
                <a:latin typeface="Georgia"/>
              </a:rPr>
              <a:t>R s'emballe en 1/r³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La </a:t>
            </a:r>
            <a:r>
              <a:rPr sz="1350" b="1" i="0">
                <a:solidFill>
                  <a:srgbClr val="202B31"/>
                </a:solidFill>
                <a:latin typeface="Calibri"/>
              </a:rPr>
              <a:t>rupture mécanique coïncide avec le début de l'emballement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« section → 0 » = explosion de R ET perte de tenue.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Après rupture, </a:t>
            </a:r>
            <a:r>
              <a:rPr sz="1350" b="1" i="0">
                <a:solidFill>
                  <a:srgbClr val="2C7A7B"/>
                </a:solidFill>
                <a:latin typeface="Calibri"/>
              </a:rPr>
              <a:t>la conduction résiduelle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(électrolyte HCl + dernier filament) maintient une résistance croissante jusqu'au circuit ouvert.</a:t>
            </a:r>
          </a:p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1100"/>
              </a:spcAft>
            </a:pPr>
            <a:r>
              <a:rPr sz="1350" b="0" i="0">
                <a:solidFill>
                  <a:srgbClr val="202B31"/>
                </a:solidFill>
                <a:latin typeface="Calibri"/>
              </a:rPr>
              <a:t>Cette portion terminale est </a:t>
            </a:r>
            <a:r>
              <a:rPr sz="1350" b="1" i="0">
                <a:solidFill>
                  <a:srgbClr val="C9601A"/>
                </a:solidFill>
                <a:latin typeface="Calibri"/>
              </a:rPr>
              <a:t>électrolytique, non métallique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 : tronquée et exclue de l'apprentissage.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13 / 19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2C7A7B"/>
                </a:solidFill>
                <a:latin typeface="Calibri"/>
              </a:rPr>
              <a:t>RÉSULTATS · OS4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Boucle décision → action : un module GMAO maison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48840"/>
            <a:ext cx="104241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Aucun CMMS open-source (GLPI, OpenMaint, Snipe-IT…) n'offre d'API exploitable en version gratuite.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400" b="1" i="0">
                <a:solidFill>
                  <a:srgbClr val="C9601A"/>
                </a:solidFill>
                <a:latin typeface="Calibri"/>
              </a:rPr>
              <a:t>→ </a:t>
            </a:r>
            <a:r>
              <a:rPr sz="1450" b="1" i="0">
                <a:solidFill>
                  <a:srgbClr val="202B31"/>
                </a:solidFill>
                <a:latin typeface="Georgia"/>
              </a:rPr>
              <a:t>Module GMAO maison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intégré à Streamlit + Supabase : à chaque alerte, un </a:t>
            </a:r>
            <a:r>
              <a:rPr sz="1400" b="1" i="0">
                <a:solidFill>
                  <a:srgbClr val="C9601A"/>
                </a:solidFill>
                <a:latin typeface="Calibri"/>
              </a:rPr>
              <a:t>ordre de travail enrichi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(CR, RUL, régime, section) est généré et tracé, sans appel externe.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68680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24712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MTBF · MTTR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indicateurs de maintenance calculés sur l'historique des OT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62272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62272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18304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Gratuit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18304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coût de licence nul, accessible aux PME africaines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3840480"/>
            <a:ext cx="3419856" cy="20574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55864" y="3840480"/>
            <a:ext cx="3419856" cy="109728"/>
          </a:xfrm>
          <a:prstGeom prst="roundRect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11896" y="4114800"/>
            <a:ext cx="29260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 i="0">
                <a:solidFill>
                  <a:srgbClr val="16252E"/>
                </a:solidFill>
                <a:latin typeface="Georgia"/>
              </a:rPr>
              <a:t>Transposable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11896" y="4892040"/>
            <a:ext cx="2926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6B7A82"/>
                </a:solidFill>
                <a:latin typeface="Calibri"/>
              </a:rPr>
              <a:t>même mapping reportable sur un CMMS open-source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14 / 19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PERSPECTIVE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Jumeau numérique : prédire, confirmer, apprendre des écarts</a:t>
            </a:r>
          </a:p>
        </p:txBody>
      </p:sp>
      <p:pic>
        <p:nvPicPr>
          <p:cNvPr id="6" name="Picture 5" descr="fig_iii3_band_scorec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2707165"/>
            <a:ext cx="5257800" cy="20837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2057400"/>
            <a:ext cx="530352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202B31"/>
                </a:solidFill>
                <a:latin typeface="Calibri"/>
              </a:rPr>
              <a:t>Un jumeau calibré sur les essais réels génère une </a:t>
            </a:r>
            <a:r>
              <a:rPr sz="1400" b="1" i="0">
                <a:solidFill>
                  <a:srgbClr val="C9601A"/>
                </a:solidFill>
                <a:latin typeface="Georgia"/>
              </a:rPr>
              <a:t>bande prédictive de durée de vie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, l'un des </a:t>
            </a:r>
            <a:r>
              <a:rPr sz="1400" b="1" i="0">
                <a:solidFill>
                  <a:srgbClr val="2C7A7B"/>
                </a:solidFill>
                <a:latin typeface="Calibri"/>
              </a:rPr>
              <a:t>trois estimateurs</a:t>
            </a:r>
            <a:r>
              <a:rPr sz="1400" b="0" i="0">
                <a:solidFill>
                  <a:srgbClr val="202B31"/>
                </a:solidFill>
                <a:latin typeface="Calibri"/>
              </a:rPr>
              <a:t> confrontés en live (physique · XGBoost · jumeau).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3383280"/>
            <a:ext cx="5303520" cy="1463040"/>
          </a:xfrm>
          <a:prstGeom prst="roundRect">
            <a:avLst/>
          </a:prstGeom>
          <a:solidFill>
            <a:srgbClr val="16252E"/>
          </a:solidFill>
          <a:ln w="12700">
            <a:solidFill>
              <a:srgbClr val="1625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3547872"/>
            <a:ext cx="48920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ADDDC"/>
                </a:solidFill>
                <a:latin typeface="Calibri"/>
              </a:rPr>
              <a:t>Deux tests « prédire-puis-confirmer » 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#21 : </a:t>
            </a:r>
            <a:r>
              <a:rPr sz="1500" b="1" i="0">
                <a:solidFill>
                  <a:srgbClr val="FFFFFF"/>
                </a:solidFill>
                <a:latin typeface="Georgia"/>
              </a:rPr>
              <a:t>13,1 h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   ✓ dans la bande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CADDDC"/>
                </a:solidFill>
                <a:latin typeface="Calibri"/>
              </a:rPr>
              <a:t>Run #22 : </a:t>
            </a:r>
            <a:r>
              <a:rPr sz="1500" b="1" i="0">
                <a:solidFill>
                  <a:srgbClr val="C9601A"/>
                </a:solidFill>
                <a:latin typeface="Georgia"/>
              </a:rPr>
              <a:t>11,95 h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   ✗ en deçà (le plus rapide)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5303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202B31"/>
                </a:solidFill>
                <a:latin typeface="Calibri"/>
              </a:rPr>
              <a:t>Le jumeau 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interpole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entre morphologies vues, il n'</a:t>
            </a:r>
            <a:r>
              <a:rPr sz="1250" b="1" i="0">
                <a:solidFill>
                  <a:srgbClr val="C9601A"/>
                </a:solidFill>
                <a:latin typeface="Calibri"/>
              </a:rPr>
              <a:t>extrapole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 pas. La prédictibilité tient à la répétition au sein d'une </a:t>
            </a:r>
            <a:r>
              <a:rPr sz="1250" b="1" i="0">
                <a:solidFill>
                  <a:srgbClr val="2C7A7B"/>
                </a:solidFill>
                <a:latin typeface="Calibri"/>
              </a:rPr>
              <a:t>même morphologie</a:t>
            </a:r>
            <a:r>
              <a:rPr sz="1250" b="0" i="0">
                <a:solidFill>
                  <a:srgbClr val="202B31"/>
                </a:solidFill>
                <a:latin typeface="Calibri"/>
              </a:rPr>
              <a:t>, pas au simple nombre d'essais.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15 / 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Limites assumées d'une preuve de concept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68680" y="2103120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103120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234440" y="2103120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Matériau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fil de fer ≠ acier API 5L : les valeurs absolues de CR ne sont pas directement transposables.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68680" y="3035808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68680" y="3035808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34440" y="3035808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Effet acide-shunt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en HCl concentré, l'électrolyte shunte la mesure, d'où l'emploi d'un fil fin.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" y="3968496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8680" y="3968496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34440" y="3968496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Jeu de données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peu d'essais : métriques bruitées, en cours de consolidation.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68680" y="4901183"/>
            <a:ext cx="10469880" cy="84124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ED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68680" y="4901183"/>
            <a:ext cx="128016" cy="841248"/>
          </a:xfrm>
          <a:prstGeom prst="round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4440" y="4901183"/>
            <a:ext cx="987552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02B31"/>
                </a:solidFill>
                <a:latin typeface="Georgia"/>
              </a:rPr>
              <a:t>Couverture thermique : </a:t>
            </a:r>
            <a:r>
              <a:rPr sz="1350" b="0" i="0">
                <a:solidFill>
                  <a:srgbClr val="202B31"/>
                </a:solidFill>
                <a:latin typeface="Calibri"/>
              </a:rPr>
              <a:t>une seule plage (~30 °C) répétée ; ~32 °C encore représentée par un seul essai.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943600"/>
            <a:ext cx="10424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1">
                <a:solidFill>
                  <a:srgbClr val="2C7A7B"/>
                </a:solidFill>
                <a:latin typeface="Calibri"/>
              </a:rPr>
              <a:t>Ces limites ne sont pas intrinsèques à la méthode : elles définissent les conditions du passage à l'échelle.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16 / 19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F5F3E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55448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41248" y="475488"/>
            <a:ext cx="10515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9601A"/>
                </a:solidFill>
                <a:latin typeface="Calibri"/>
              </a:rPr>
              <a:t>APPORTS DU TRAVAIL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1069848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202B31"/>
                </a:solidFill>
                <a:latin typeface="Georgia"/>
              </a:rPr>
              <a:t>Ce que cette étude apporte</a:t>
            </a:r>
          </a:p>
        </p:txBody>
      </p:sp>
      <p:sp>
        <p:nvSpPr>
          <p:cNvPr id="6" name="Oval 5"/>
          <p:cNvSpPr/>
          <p:nvPr/>
        </p:nvSpPr>
        <p:spPr>
          <a:xfrm>
            <a:off x="868680" y="2221992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148840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Apport méthodologique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La fiabilité du ML se lit dans la STRUCTURE du R² (positif si conditions couvertes et répétées), rarement explicité dans la littérature.</a:t>
            </a:r>
          </a:p>
        </p:txBody>
      </p:sp>
      <p:sp>
        <p:nvSpPr>
          <p:cNvPr id="8" name="Oval 7"/>
          <p:cNvSpPr/>
          <p:nvPr/>
        </p:nvSpPr>
        <p:spPr>
          <a:xfrm>
            <a:off x="868680" y="3209544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136392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Chaîne complète low-cost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De la mesure à l'ordre de travail, en matériel accessible localement (~50 000 FCFA) et logiciels open-source.</a:t>
            </a:r>
          </a:p>
        </p:txBody>
      </p:sp>
      <p:sp>
        <p:nvSpPr>
          <p:cNvPr id="10" name="Oval 9"/>
          <p:cNvSpPr/>
          <p:nvPr/>
        </p:nvSpPr>
        <p:spPr>
          <a:xfrm>
            <a:off x="868680" y="4197096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4123944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Double transposabilité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Saut I3.0 → 4.0 essentiellement logiciel chez COTCO ; déploiement autonome pour les PME africaines.</a:t>
            </a:r>
          </a:p>
        </p:txBody>
      </p:sp>
      <p:sp>
        <p:nvSpPr>
          <p:cNvPr id="12" name="Oval 11"/>
          <p:cNvSpPr/>
          <p:nvPr/>
        </p:nvSpPr>
        <p:spPr>
          <a:xfrm>
            <a:off x="868680" y="5184648"/>
            <a:ext cx="502920" cy="502920"/>
          </a:xfrm>
          <a:prstGeom prst="ellipse">
            <a:avLst/>
          </a:prstGeom>
          <a:solidFill>
            <a:srgbClr val="2C7A7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5111496"/>
            <a:ext cx="97840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1" i="0">
                <a:solidFill>
                  <a:srgbClr val="202B31"/>
                </a:solidFill>
                <a:latin typeface="Georgia"/>
              </a:rPr>
              <a:t>Rigueur &amp; traçabilité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202B31"/>
                </a:solidFill>
                <a:latin typeface="Calibri"/>
              </a:rPr>
              <a:t>Chaque donnée, seuil et décision adossé à une source (norme, référence, loi physique).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6B7A82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17 / 19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603504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C9601A"/>
                </a:solidFill>
                <a:latin typeface="Calibri"/>
              </a:rPr>
              <a:t>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1024128"/>
            <a:ext cx="106070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100" b="1" i="0">
                <a:solidFill>
                  <a:srgbClr val="FFFFFF"/>
                </a:solidFill>
                <a:latin typeface="Georgia"/>
              </a:rPr>
              <a:t>Une brique fondatrice, validée et reproductible</a:t>
            </a:r>
          </a:p>
        </p:txBody>
      </p:sp>
      <p:sp>
        <p:nvSpPr>
          <p:cNvPr id="6" name="Oval 5"/>
          <p:cNvSpPr/>
          <p:nvPr/>
        </p:nvSpPr>
        <p:spPr>
          <a:xfrm>
            <a:off x="886968" y="2103120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2121408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OS1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chaîne d'acquisition ER fonctionnelle, suivi d'essais run-to-failure complets.</a:t>
            </a:r>
          </a:p>
        </p:txBody>
      </p:sp>
      <p:sp>
        <p:nvSpPr>
          <p:cNvPr id="8" name="Oval 7"/>
          <p:cNvSpPr/>
          <p:nvPr/>
        </p:nvSpPr>
        <p:spPr>
          <a:xfrm>
            <a:off x="886968" y="2816352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2834640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OS2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XGBoost prédit le CR et surpasse les baselines, sous condition de couverture.</a:t>
            </a:r>
          </a:p>
        </p:txBody>
      </p:sp>
      <p:sp>
        <p:nvSpPr>
          <p:cNvPr id="10" name="Oval 9"/>
          <p:cNvSpPr/>
          <p:nvPr/>
        </p:nvSpPr>
        <p:spPr>
          <a:xfrm>
            <a:off x="886968" y="3529584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45920" y="3547872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OS3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température dominante ; la répétabilité des conditions fait la fiabilité.</a:t>
            </a:r>
          </a:p>
        </p:txBody>
      </p:sp>
      <p:sp>
        <p:nvSpPr>
          <p:cNvPr id="12" name="Oval 11"/>
          <p:cNvSpPr/>
          <p:nvPr/>
        </p:nvSpPr>
        <p:spPr>
          <a:xfrm>
            <a:off x="886968" y="4242816"/>
            <a:ext cx="548640" cy="548640"/>
          </a:xfrm>
          <a:prstGeom prst="ellipse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700" b="1">
                <a:solidFill>
                  <a:srgbClr val="FFFFFF"/>
                </a:solidFill>
                <a:latin typeface="Georgia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4261104"/>
            <a:ext cx="9692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9601A"/>
                </a:solidFill>
                <a:latin typeface="Georgia"/>
              </a:rPr>
              <a:t>OS4 : </a:t>
            </a:r>
            <a:r>
              <a:rPr sz="1400" b="0" i="0">
                <a:solidFill>
                  <a:srgbClr val="CADDDC"/>
                </a:solidFill>
                <a:latin typeface="Calibri"/>
              </a:rPr>
              <a:t>boucle décision → action démontrée par un module GMAO maison, à coût nul.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5212080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Objectifs partiellement atteints, en cours de consolidation. </a:t>
            </a:r>
            <a:r>
              <a:rPr sz="1450" b="0" i="1">
                <a:solidFill>
                  <a:srgbClr val="CADDDC"/>
                </a:solidFill>
                <a:latin typeface="Calibri"/>
              </a:rPr>
              <a:t>Mais un prototype qui va de la mesure à la décision, transposable des deux côtés.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37376"/>
            <a:ext cx="8229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CADDDC"/>
                </a:solidFill>
                <a:latin typeface="Calibri"/>
              </a:rPr>
              <a:t>Maintenance prédictive de la corrosion  ·  ESTL La Salle  ·  2025–2026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60" y="6437376"/>
            <a:ext cx="1325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>
                <a:solidFill>
                  <a:srgbClr val="C9601A"/>
                </a:solidFill>
                <a:latin typeface="Calibri"/>
              </a:rPr>
              <a:t>18 / 19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-54864" y="-54864"/>
            <a:ext cx="12301423" cy="6967728"/>
          </a:xfrm>
          <a:prstGeom prst="rect">
            <a:avLst/>
          </a:prstGeom>
          <a:solidFill>
            <a:srgbClr val="1625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96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1033272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Georgia"/>
              </a:rPr>
              <a:t>Merci de votre attention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1">
                <a:solidFill>
                  <a:srgbClr val="C9601A"/>
                </a:solidFill>
                <a:latin typeface="Calibri"/>
              </a:rPr>
              <a:t>Questions &amp; discussion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754880"/>
            <a:ext cx="103327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CADDDC"/>
                </a:solidFill>
                <a:latin typeface="Calibri"/>
              </a:rPr>
              <a:t>BATOUMBI IKOND Ricky Parfait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6B7A82"/>
                </a:solidFill>
                <a:latin typeface="Calibri"/>
              </a:rPr>
              <a:t>Master 2, Maintenance Industrielle et Productique  ·  ESTL La Salle  ·  2025–2026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